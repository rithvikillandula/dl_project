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exp\_plus\_distilbert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76.2</c:v>
                </c:pt>
                <c:pt idx="1">
                  <c:v>66.91</c:v>
                </c:pt>
                <c:pt idx="2">
                  <c:v>49.77</c:v>
                </c:pt>
                <c:pt idx="3">
                  <c:v>57.08</c:v>
                </c:pt>
              </c:numCache>
            </c:numRef>
          </c:val>
        </c:ser>
        <c:dLbls>
          <c:numFmt formatCode="0.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Best transformer</c:v>
                </c:pt>
                <c:pt idx="1">
                  <c:v>Exp plus DistilBERT</c:v>
                </c:pt>
                <c:pt idx="2">
                  <c:v>Exp plus RoBERTa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64.6</c:v>
                </c:pt>
                <c:pt idx="1">
                  <c:v>76.2</c:v>
                </c:pt>
                <c:pt idx="2">
                  <c:v>74.0</c:v>
                </c:pt>
              </c:numCache>
            </c:numRef>
          </c:val>
        </c:ser>
        <c:dLbls>
          <c:numFmt formatCode="0.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274320" y="0"/>
            <a:ext cx="5029200" cy="6858000"/>
          </a:xfrm>
          <a:prstGeom prst="roundRect">
            <a:avLst>
              <a:gd name="adj" fmla="val 8000"/>
            </a:avLst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92440" y="502920"/>
            <a:ext cx="1920240" cy="1920240"/>
          </a:xfrm>
          <a:prstGeom prst="ellipse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72600" y="1828800"/>
            <a:ext cx="1051560" cy="1051560"/>
          </a:xfrm>
          <a:prstGeom prst="ellipse">
            <a:avLst/>
          </a:prstGeom>
          <a:solidFill>
            <a:srgbClr val="148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65392" y="850392"/>
            <a:ext cx="4709160" cy="4828032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731520"/>
            <a:ext cx="4709160" cy="4828032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F2642"/>
                </a:solidFill>
              </a:rPr>
              <a:t>Group Members</a:t>
            </a:r>
          </a:p>
          <a:p>
            <a:pPr>
              <a:spcBef>
                <a:spcPts val="1100"/>
              </a:spcBef>
              <a:defRPr sz="1400" b="1">
                <a:solidFill>
                  <a:srgbClr val="222C34"/>
                </a:solidFill>
              </a:defRPr>
            </a:pPr>
            <a:r>
              <a:t>Rithvik Illandula</a:t>
            </a:r>
          </a:p>
          <a:p>
            <a:pPr>
              <a:defRPr sz="1050">
                <a:solidFill>
                  <a:srgbClr val="5A6873"/>
                </a:solidFill>
              </a:defRPr>
            </a:pPr>
            <a:r>
              <a:t>UBID: rithviki | rithviki@buffalo.edu</a:t>
            </a:r>
          </a:p>
          <a:p>
            <a:pPr>
              <a:spcBef>
                <a:spcPts val="1100"/>
              </a:spcBef>
              <a:defRPr sz="1400" b="1">
                <a:solidFill>
                  <a:srgbClr val="222C34"/>
                </a:solidFill>
              </a:defRPr>
            </a:pPr>
            <a:r>
              <a:t>Venkata Praneeth Cheturi</a:t>
            </a:r>
          </a:p>
          <a:p>
            <a:pPr>
              <a:defRPr sz="1050">
                <a:solidFill>
                  <a:srgbClr val="5A6873"/>
                </a:solidFill>
              </a:defRPr>
            </a:pPr>
            <a:r>
              <a:t>UBID: vcheturi | vcheturi@buffalo.edu</a:t>
            </a:r>
          </a:p>
          <a:p>
            <a:pPr>
              <a:spcBef>
                <a:spcPts val="1100"/>
              </a:spcBef>
              <a:defRPr sz="1400" b="1">
                <a:solidFill>
                  <a:srgbClr val="222C34"/>
                </a:solidFill>
              </a:defRPr>
            </a:pPr>
            <a:r>
              <a:t>Charitha Mamilla RaveendraReddy</a:t>
            </a:r>
          </a:p>
          <a:p>
            <a:pPr>
              <a:defRPr sz="1050">
                <a:solidFill>
                  <a:srgbClr val="5A6873"/>
                </a:solidFill>
              </a:defRPr>
            </a:pPr>
            <a:r>
              <a:t>UBID: cmamilla | cmamilla@buffalo.edu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Fake News Detection
Deep Learning Project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E6EBF2"/>
                </a:solidFill>
              </a:rPr>
              <a:t>A complete end-to-end NLP system for classifying news as REAL or FAKE using LIAR and FakeNewsNet.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297680"/>
            <a:ext cx="2377440" cy="457200"/>
          </a:xfrm>
          <a:prstGeom prst="roundRect">
            <a:avLst/>
          </a:prstGeom>
          <a:solidFill>
            <a:srgbClr val="148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Binary Text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34924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0F2642"/>
                </a:solidFill>
              </a:rPr>
              <a:t>Real datasets | DistilBERT best model | 76.2% test accuracy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Project Storyline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This is the narrative we should present: start with the problem, show the process, then justify the final result.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Problem and why it matters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Datasets and preprocessing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Modeling approaches and experimentation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Final results, limitations, and demo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Conclusions and Q&amp;A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9912" y="1115568"/>
            <a:ext cx="3200400" cy="411480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66760" y="1051560"/>
            <a:ext cx="3200400" cy="4114800"/>
          </a:xfrm>
          <a:prstGeom prst="roundRect">
            <a:avLst/>
          </a:prstGeom>
          <a:solidFill>
            <a:srgbClr val="F5F8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642"/>
                </a:solidFill>
              </a:rPr>
              <a:t>Presentation Goal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Clear narrative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Strong visuals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Confident explanation of design choices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Honest discussion of limitations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Why Fake News Detection Is Hard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This project is a text classification task, not full fact verification.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Fake news is not always obviously false; it often uses believable language.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Short claims and full news articles have very different text patterns.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Realistic fake news requires learning linguistic cues, not just keyword matching.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The model must handle noisy text, class imbalance, and domain shift.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9912" y="1115568"/>
            <a:ext cx="3200400" cy="411480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66760" y="1051560"/>
            <a:ext cx="3200400" cy="4114800"/>
          </a:xfrm>
          <a:prstGeom prst="roundRect">
            <a:avLst/>
          </a:prstGeom>
          <a:solidFill>
            <a:srgbClr val="F5F8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642"/>
                </a:solidFill>
              </a:rPr>
              <a:t>What the model can do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Classify text as fake/real based on learned patterns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What it cannot do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Check facts against the web or external knowledge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Detect every misleading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Datasets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Two real datasets were merged locally to build the final training 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9601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642"/>
                </a:solidFill>
              </a:rPr>
              <a:t>LIAR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12,765 short political statements</a:t>
            </a:r>
          </a:p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Converted to binary labels</a:t>
            </a:r>
          </a:p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Good for concise claim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9601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642"/>
                </a:solidFill>
              </a:rPr>
              <a:t>FakeNewsNet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3258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21,718 full news articles</a:t>
            </a:r>
          </a:p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Binary fake/real labels</a:t>
            </a:r>
          </a:p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Better coverage of realistic article-style 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Label Mapping and Data Splits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The biggest gain came from using more real data, not from changing the model architecture.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Labels were standardized to 0 = REAL and 1 = FAKE.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Initial split used 13,170 rows with 80/10/10 train/val/test.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Expanded split used 34,483 rows with 27,586 train, 3,448 val, and 3,449 test.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The expanded split gave a much better learning signal for the transformer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9912" y="1115568"/>
            <a:ext cx="3200400" cy="411480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66760" y="1051560"/>
            <a:ext cx="3200400" cy="4114800"/>
          </a:xfrm>
          <a:prstGeom prst="roundRect">
            <a:avLst/>
          </a:prstGeom>
          <a:solidFill>
            <a:srgbClr val="F5F8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642"/>
                </a:solidFill>
              </a:rPr>
              <a:t>Key numbers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Original: 13.2k rows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Expanded: 34.5k rows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Growth: +161%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Best model trained on the expanded split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Text Preprocessing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The preprocessing kept the pipeline simple and consistent across all models.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Lowercase conversion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URL removal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HTML tag removal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Punctuation and special-character cleanup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Whitespace normalization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Missing value handling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Models We Explored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We compared simpler sequence models against transformer-based models to justify the final choice.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9601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642"/>
                </a:solidFill>
              </a:rPr>
              <a:t>Classic Neural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RNN baseline</a:t>
            </a:r>
          </a:p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LSTM baseline</a:t>
            </a:r>
          </a:p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Useful for sequence modeling and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9601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642"/>
                </a:solidFill>
              </a:rPr>
              <a:t>Transformer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3258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DistilBERT baseline and final model</a:t>
            </a:r>
          </a:p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RoBERTa variants for comparison</a:t>
            </a:r>
          </a:p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Best overall performance came from DistilBERT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Training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This workflow was repeated for each experiment so the comparisons remained fair.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Read raw LIAR and FakeNewsNet data.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Clean and merge the datasets.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Split into train/validation/test sets.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Tokenize text and train the model.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Tune the threshold on validation data.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Report test metrics and error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9912" y="1115568"/>
            <a:ext cx="3200400" cy="411480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66760" y="1051560"/>
            <a:ext cx="3200400" cy="4114800"/>
          </a:xfrm>
          <a:prstGeom prst="roundRect">
            <a:avLst/>
          </a:prstGeom>
          <a:solidFill>
            <a:srgbClr val="F5F8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642"/>
                </a:solidFill>
              </a:rPr>
              <a:t>Design principle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Keep preprocessing and evaluation consistent so improvements are meaningful, not accidental.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Baseline Result: Where We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The baseline established a working end-to-end system and exposed the data limitation.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Baseline DistilBERT on the original split achieved 64.6% accuracy.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That was good enough to prove the pipeline worked, but not good enough for the final target.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The first bottleneck was data volume, not model complexity.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9912" y="1115568"/>
            <a:ext cx="3200400" cy="411480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66760" y="1051560"/>
            <a:ext cx="3200400" cy="4114800"/>
          </a:xfrm>
          <a:prstGeom prst="roundRect">
            <a:avLst/>
          </a:prstGeom>
          <a:solidFill>
            <a:srgbClr val="F5F8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642"/>
                </a:solidFill>
              </a:rPr>
              <a:t>Baseline takeaway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The pipeline was correct.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The model was not yet strong enough.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We needed more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What We Changed After the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The project improved through data expansion and disciplined experimentation.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Expanded the dataset to 34,483 rows.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Stopped over-focusing on class weighting because it hurt accuracy.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Tuned the decision threshold instead of relying on the default 0.5 cut-off.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Compared DistilBERT, RoBERTa, and classic RNN/LSTM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9912" y="1115568"/>
            <a:ext cx="3200400" cy="411480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66760" y="1051560"/>
            <a:ext cx="3200400" cy="4114800"/>
          </a:xfrm>
          <a:prstGeom prst="roundRect">
            <a:avLst/>
          </a:prstGeom>
          <a:solidFill>
            <a:srgbClr val="F5F8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642"/>
                </a:solidFill>
              </a:rPr>
              <a:t>Important lesson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Better data beat more complicated tricks.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Data Expansion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This was the single most important improvement in the whole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Moved from 13k rows to 34.5k rows.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The expanded set included much more FakeNewsNet coverage.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This improved generalization and reduced the baseline ceiling.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The final accuracy gain was +11.6 percentage 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9912" y="1115568"/>
            <a:ext cx="3200400" cy="411480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66760" y="1051560"/>
            <a:ext cx="3200400" cy="4114800"/>
          </a:xfrm>
          <a:prstGeom prst="roundRect">
            <a:avLst/>
          </a:prstGeom>
          <a:solidFill>
            <a:srgbClr val="F5F8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642"/>
                </a:solidFill>
              </a:rPr>
              <a:t>Result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64.6% → 76.2%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Data growth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+161%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Final decision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Use the expanded dataset in the final 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Best Model: DistilBERT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DistilBERT gave the best balance of speed, stability, and accuracy.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Architecture: DistilBERT-base-uncased.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Training used 27,586 rows, batch size 16, max length 128.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Optimizer: AdamW with a low learning rate for stable fine-tuning.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Fast enough for CPU-based experiments and strong enough for the final demo.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9912" y="1115568"/>
            <a:ext cx="3200400" cy="411480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66760" y="1051560"/>
            <a:ext cx="3200400" cy="4114800"/>
          </a:xfrm>
          <a:prstGeom prst="roundRect">
            <a:avLst/>
          </a:prstGeom>
          <a:solidFill>
            <a:srgbClr val="F5F8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642"/>
                </a:solidFill>
              </a:rPr>
              <a:t>Why this model won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Smaller than RoBERTa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Better accuracy than the baseline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Practical for local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Threshold 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A tiny threshold adjustment produced a measurable benefit.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We searched validation thresholds from 0.2 to 0.8.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The best threshold was 0.51, not the default 0.5.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This small change improved the final decision boundary and made the app more reliable.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9912" y="1115568"/>
            <a:ext cx="3200400" cy="411480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66760" y="1051560"/>
            <a:ext cx="3200400" cy="4114800"/>
          </a:xfrm>
          <a:prstGeom prst="roundRect">
            <a:avLst/>
          </a:prstGeom>
          <a:solidFill>
            <a:srgbClr val="F5F8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642"/>
                </a:solidFill>
              </a:rPr>
              <a:t>Why this matters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The model outputs probabilities, and the cutoff rule changes real-world behavior.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Final Test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A6873"/>
                </a:solidFill>
              </a:rPr>
              <a:t>Best model evaluated on 3,449 test examples with threshold 0.51.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1097280"/>
          <a:ext cx="77724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823960" y="1325880"/>
            <a:ext cx="2606040" cy="4023360"/>
          </a:xfrm>
          <a:prstGeom prst="roundRect">
            <a:avLst/>
          </a:prstGeom>
          <a:solidFill>
            <a:srgbClr val="F5F8FC"/>
          </a:solidFill>
          <a:ln>
            <a:solidFill>
              <a:srgbClr val="D4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642"/>
                </a:solidFill>
              </a:rPr>
              <a:t>Key takeaways</a:t>
            </a:r>
          </a:p>
          <a:p>
            <a:pPr>
              <a:defRPr sz="1200">
                <a:solidFill>
                  <a:srgbClr val="222C34"/>
                </a:solidFill>
              </a:defRPr>
            </a:pPr>
            <a:r>
              <a:t>• Data expansion mattered more than architecture changes.</a:t>
            </a:r>
          </a:p>
          <a:p>
            <a:pPr>
              <a:defRPr sz="1200">
                <a:solidFill>
                  <a:srgbClr val="222C34"/>
                </a:solidFill>
              </a:defRPr>
            </a:pPr>
            <a:r>
              <a:t>• DistilBERT was the best tradeoff between size and accuracy.</a:t>
            </a:r>
          </a:p>
          <a:p>
            <a:pPr>
              <a:defRPr sz="1200">
                <a:solidFill>
                  <a:srgbClr val="222C34"/>
                </a:solidFill>
              </a:defRPr>
            </a:pPr>
            <a:r>
              <a:t>• Threshold tuning improved the final decision boundary.</a:t>
            </a:r>
          </a:p>
          <a:p>
            <a:pPr>
              <a:defRPr sz="1200">
                <a:solidFill>
                  <a:srgbClr val="222C34"/>
                </a:solidFill>
              </a:defRPr>
            </a:pPr>
            <a:r>
              <a:t>• The model learns pattern-based fake news cues, not fact checking.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9601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2642"/>
                </a:solidFill>
              </a:rPr>
              <a:t>Best model: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1234440"/>
            <a:ext cx="26060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22C34"/>
                </a:solidFill>
              </a:rPr>
              <a:t>Accuracy: 76.2%</a:t>
            </a:r>
          </a:p>
          <a:p>
            <a:r>
              <a:rPr sz="1300">
                <a:solidFill>
                  <a:srgbClr val="222C34"/>
                </a:solidFill>
              </a:rPr>
              <a:t>Precision: 66.91%</a:t>
            </a:r>
          </a:p>
          <a:p>
            <a:r>
              <a:rPr sz="1300">
                <a:solidFill>
                  <a:srgbClr val="222C34"/>
                </a:solidFill>
              </a:rPr>
              <a:t>Recall: 49.77%</a:t>
            </a:r>
          </a:p>
          <a:p>
            <a:r>
              <a:rPr sz="1300">
                <a:solidFill>
                  <a:srgbClr val="222C34"/>
                </a:solidFill>
              </a:rPr>
              <a:t>F1: 0.5708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Confusion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A6873"/>
                </a:solidFill>
              </a:rPr>
              <a:t>The model is strong at recognizing real news, but it still misses about half of the fake examples.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463040"/>
            <a:ext cx="2011680" cy="790041"/>
          </a:xfrm>
          <a:prstGeom prst="rect">
            <a:avLst/>
          </a:prstGeom>
          <a:solidFill>
            <a:srgbClr val="0F264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463040"/>
            <a:ext cx="2011680" cy="790041"/>
          </a:xfrm>
          <a:prstGeom prst="rect">
            <a:avLst/>
          </a:prstGeom>
          <a:solidFill>
            <a:srgbClr val="0F264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Predicted REAL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463040"/>
            <a:ext cx="2011680" cy="790041"/>
          </a:xfrm>
          <a:prstGeom prst="rect">
            <a:avLst/>
          </a:prstGeom>
          <a:solidFill>
            <a:srgbClr val="0F264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Predicted FAKE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253081"/>
            <a:ext cx="2011680" cy="790041"/>
          </a:xfrm>
          <a:prstGeom prst="rect">
            <a:avLst/>
          </a:prstGeom>
          <a:solidFill>
            <a:srgbClr val="0F264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Actual REAL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253081"/>
            <a:ext cx="2011680" cy="790041"/>
          </a:xfrm>
          <a:prstGeom prst="rect">
            <a:avLst/>
          </a:prstGeom>
          <a:solidFill>
            <a:srgbClr val="E6F5F2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22C34"/>
                </a:solidFill>
              </a:rPr>
              <a:t>2082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253081"/>
            <a:ext cx="2011680" cy="790041"/>
          </a:xfrm>
          <a:prstGeom prst="rect">
            <a:avLst/>
          </a:prstGeom>
          <a:solidFill>
            <a:srgbClr val="FFF3E5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22C34"/>
                </a:solidFill>
              </a:rPr>
              <a:t>270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043123"/>
            <a:ext cx="2011680" cy="790041"/>
          </a:xfrm>
          <a:prstGeom prst="rect">
            <a:avLst/>
          </a:prstGeom>
          <a:solidFill>
            <a:srgbClr val="0F264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Actual FAKE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3043123"/>
            <a:ext cx="2011680" cy="790041"/>
          </a:xfrm>
          <a:prstGeom prst="rect">
            <a:avLst/>
          </a:prstGeom>
          <a:solidFill>
            <a:srgbClr val="FFF3E5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22C34"/>
                </a:solidFill>
              </a:rPr>
              <a:t>551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3043123"/>
            <a:ext cx="2011680" cy="790041"/>
          </a:xfrm>
          <a:prstGeom prst="rect">
            <a:avLst/>
          </a:prstGeom>
          <a:solidFill>
            <a:srgbClr val="EBF4FC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22C34"/>
                </a:solidFill>
              </a:rPr>
              <a:t>546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1554480"/>
            <a:ext cx="4297680" cy="3108960"/>
          </a:xfrm>
          <a:prstGeom prst="roundRect">
            <a:avLst/>
          </a:prstGeom>
          <a:solidFill>
            <a:srgbClr val="F5F8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222C34"/>
                </a:solidFill>
              </a:defRPr>
            </a:pPr>
            <a:r>
              <a:t>True negatives: 2,082</a:t>
            </a:r>
          </a:p>
          <a:p>
            <a:pPr>
              <a:defRPr sz="1300">
                <a:solidFill>
                  <a:srgbClr val="222C34"/>
                </a:solidFill>
              </a:defRPr>
            </a:pPr>
            <a:r>
              <a:t>False positives: 270</a:t>
            </a:r>
          </a:p>
          <a:p>
            <a:pPr>
              <a:defRPr sz="1300">
                <a:solidFill>
                  <a:srgbClr val="222C34"/>
                </a:solidFill>
              </a:defRPr>
            </a:pPr>
            <a:r>
              <a:t>False negatives: 551</a:t>
            </a:r>
          </a:p>
          <a:p>
            <a:pPr>
              <a:defRPr sz="1300">
                <a:solidFill>
                  <a:srgbClr val="222C34"/>
                </a:solidFill>
              </a:defRPr>
            </a:pPr>
            <a:r>
              <a:t>True positives: 546</a:t>
            </a:r>
          </a:p>
          <a:p>
            <a:pPr>
              <a:defRPr sz="1300">
                <a:solidFill>
                  <a:srgbClr val="222C34"/>
                </a:solidFill>
              </a:defRPr>
            </a:pPr>
          </a:p>
          <a:p>
            <a:pPr>
              <a:defRPr sz="1200" b="1">
                <a:solidFill>
                  <a:srgbClr val="0F2642"/>
                </a:solidFill>
              </a:defRPr>
            </a:pPr>
            <a:r>
              <a:t>Interpretation:</a:t>
            </a:r>
          </a:p>
          <a:p>
            <a:pPr>
              <a:defRPr sz="1200">
                <a:solidFill>
                  <a:srgbClr val="5A6873"/>
                </a:solidFill>
              </a:defRPr>
            </a:pPr>
            <a:r>
              <a:t>• Good at classifying REAL examples</a:t>
            </a:r>
          </a:p>
          <a:p>
            <a:pPr>
              <a:defRPr sz="1200">
                <a:solidFill>
                  <a:srgbClr val="5A6873"/>
                </a:solidFill>
              </a:defRPr>
            </a:pPr>
            <a:r>
              <a:t>• Misses some subtle FAKE examples</a:t>
            </a:r>
          </a:p>
          <a:p>
            <a:pPr>
              <a:defRPr sz="1200">
                <a:solidFill>
                  <a:srgbClr val="5A6873"/>
                </a:solidFill>
              </a:defRPr>
            </a:pPr>
            <a:r>
              <a:t>• Best used with threshold tuning and human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A6873"/>
                </a:solidFill>
              </a:rPr>
              <a:t>DistilBERT remained the best tradeoff between performance and complexity.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1097280"/>
          <a:ext cx="77724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823960" y="1325880"/>
            <a:ext cx="2606040" cy="4023360"/>
          </a:xfrm>
          <a:prstGeom prst="roundRect">
            <a:avLst/>
          </a:prstGeom>
          <a:solidFill>
            <a:srgbClr val="F5F8FC"/>
          </a:solidFill>
          <a:ln>
            <a:solidFill>
              <a:srgbClr val="D4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642"/>
                </a:solidFill>
              </a:rPr>
              <a:t>Key takeaways</a:t>
            </a:r>
          </a:p>
          <a:p>
            <a:pPr>
              <a:defRPr sz="1200">
                <a:solidFill>
                  <a:srgbClr val="222C34"/>
                </a:solidFill>
              </a:defRPr>
            </a:pPr>
            <a:r>
              <a:t>• Data expansion mattered more than architecture changes.</a:t>
            </a:r>
          </a:p>
          <a:p>
            <a:pPr>
              <a:defRPr sz="1200">
                <a:solidFill>
                  <a:srgbClr val="222C34"/>
                </a:solidFill>
              </a:defRPr>
            </a:pPr>
            <a:r>
              <a:t>• DistilBERT was the best tradeoff between size and accuracy.</a:t>
            </a:r>
          </a:p>
          <a:p>
            <a:pPr>
              <a:defRPr sz="1200">
                <a:solidFill>
                  <a:srgbClr val="222C34"/>
                </a:solidFill>
              </a:defRPr>
            </a:pPr>
            <a:r>
              <a:t>• Threshold tuning improved the final decision boundary.</a:t>
            </a:r>
          </a:p>
          <a:p>
            <a:pPr>
              <a:defRPr sz="1200">
                <a:solidFill>
                  <a:srgbClr val="222C34"/>
                </a:solidFill>
              </a:defRPr>
            </a:pPr>
            <a:r>
              <a:t>• The model learns pattern-based fake news cues, not fact checking.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1325880"/>
            <a:ext cx="26517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22C34"/>
                </a:solidFill>
              </a:defRPr>
            </a:pPr>
            <a:r>
              <a:t>Baseline: 64.6%</a:t>
            </a:r>
          </a:p>
          <a:p>
            <a:pPr>
              <a:defRPr sz="1300">
                <a:solidFill>
                  <a:srgbClr val="222C34"/>
                </a:solidFill>
              </a:defRPr>
            </a:pPr>
            <a:r>
              <a:t>Final: 76.2%</a:t>
            </a:r>
          </a:p>
          <a:p>
            <a:pPr>
              <a:defRPr sz="1300">
                <a:solidFill>
                  <a:srgbClr val="222C34"/>
                </a:solidFill>
              </a:defRPr>
            </a:pPr>
            <a:r>
              <a:t>RoBERTa: 74.0%</a:t>
            </a:r>
          </a:p>
          <a:p>
            <a:pPr>
              <a:defRPr sz="1300">
                <a:solidFill>
                  <a:srgbClr val="222C34"/>
                </a:solidFill>
              </a:defRPr>
            </a:pPr>
          </a:p>
          <a:p>
            <a:pPr>
              <a:defRPr sz="1300" b="1">
                <a:solidFill>
                  <a:srgbClr val="0F2642"/>
                </a:solidFill>
              </a:defRPr>
            </a:pPr>
            <a:r>
              <a:t>Conclusion:</a:t>
            </a:r>
          </a:p>
          <a:p>
            <a:pPr>
              <a:defRPr sz="1300">
                <a:solidFill>
                  <a:srgbClr val="0F2642"/>
                </a:solidFill>
              </a:defRPr>
            </a:pPr>
            <a:r>
              <a:t>Data expansion beat architecture changes.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Working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The demo turns the project from an offline experiment into a usable interface.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A Streamlit app was built for interactive predictions.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Users can choose a checkpoint from a dropdown.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The app displays FAKE / REAL plus confidence scores.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Thresholds are preconfigured for the selected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9912" y="1115568"/>
            <a:ext cx="3200400" cy="411480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66760" y="1051560"/>
            <a:ext cx="3200400" cy="4114800"/>
          </a:xfrm>
          <a:prstGeom prst="roundRect">
            <a:avLst/>
          </a:prstGeom>
          <a:solidFill>
            <a:srgbClr val="F5F8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642"/>
                </a:solidFill>
              </a:rPr>
              <a:t>Why the demo matters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It proves the model is usable by non-technical users.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Key Hiccups and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These issues helped shape the final design choices and the project narrative.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Class weighting reduced accuracy instead of improving it.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RoBERTa training was unstable on the CPU-only environment.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Some checkpoints needed tokenizer fallback settings.</a:t>
            </a:r>
          </a:p>
          <a:p>
            <a:pPr>
              <a:spcAft>
                <a:spcPts val="800"/>
              </a:spcAft>
              <a:defRPr sz="2000" b="1">
                <a:solidFill>
                  <a:srgbClr val="222C34"/>
                </a:solidFill>
              </a:defRPr>
            </a:pPr>
            <a:r>
              <a:t>Obvious nonsense inputs exposed the model’s domain limitations.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9912" y="1115568"/>
            <a:ext cx="3200400" cy="4114800"/>
          </a:xfrm>
          <a:prstGeom prst="roundRect">
            <a:avLst/>
          </a:prstGeom>
          <a:solidFill>
            <a:srgbClr val="D6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66760" y="1051560"/>
            <a:ext cx="3200400" cy="4114800"/>
          </a:xfrm>
          <a:prstGeom prst="roundRect">
            <a:avLst/>
          </a:prstGeom>
          <a:solidFill>
            <a:srgbClr val="F5F8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2642"/>
                </a:solidFill>
              </a:rPr>
              <a:t>Design lesson</a:t>
            </a:r>
          </a:p>
          <a:p>
            <a:pPr>
              <a:spcAft>
                <a:spcPts val="500"/>
              </a:spcAft>
              <a:defRPr sz="1300">
                <a:solidFill>
                  <a:srgbClr val="222C34"/>
                </a:solidFill>
              </a:defRPr>
            </a:pPr>
            <a:r>
              <a:t>A good project report should explain unexpected failures, not hide them.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45720"/>
          </a:xfrm>
          <a:prstGeom prst="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Limitations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731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19088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873"/>
                </a:solidFill>
              </a:rPr>
              <a:t>CSE 676 Deep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A6873"/>
                </a:solidFill>
              </a:rPr>
              <a:t>The honest limitations make the final presentation stronger, not weaker.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9601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642"/>
                </a:solidFill>
              </a:rP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Recall is only 49.77% on fake examples.</a:t>
            </a:r>
          </a:p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The model cannot verify facts externally.</a:t>
            </a:r>
          </a:p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Performance drops on out-of-domain inputs.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9601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F2642"/>
                </a:solidFill>
              </a:rPr>
              <a:t>Next Improvements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3258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Add fact-checking or retrieval-based verification.</a:t>
            </a:r>
          </a:p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Try an ensemble of models.</a:t>
            </a:r>
          </a:p>
          <a:p>
            <a:pPr>
              <a:spcAft>
                <a:spcPts val="700"/>
              </a:spcAft>
              <a:defRPr sz="1800">
                <a:solidFill>
                  <a:srgbClr val="222C34"/>
                </a:solidFill>
              </a:defRPr>
            </a:pPr>
            <a:r>
              <a:t>Use richer metadata such as source and author context.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6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920240" cy="274320"/>
          </a:xfrm>
          <a:prstGeom prst="roundRect">
            <a:avLst/>
          </a:prstGeom>
          <a:solidFill>
            <a:srgbClr val="148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0" y="960120"/>
            <a:ext cx="1097280" cy="274320"/>
          </a:xfrm>
          <a:prstGeom prst="roundRect">
            <a:avLst/>
          </a:prstGeom>
          <a:solidFill>
            <a:srgbClr val="F18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052560" y="731520"/>
            <a:ext cx="1828800" cy="274320"/>
          </a:xfrm>
          <a:prstGeom prst="roundRect">
            <a:avLst/>
          </a:prstGeom>
          <a:solidFill>
            <a:srgbClr val="F6C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92640" y="1097280"/>
            <a:ext cx="1097280" cy="274320"/>
          </a:xfrm>
          <a:prstGeom prst="roundRect">
            <a:avLst/>
          </a:prstGeom>
          <a:solidFill>
            <a:srgbClr val="148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11312" y="2039112"/>
            <a:ext cx="3584448" cy="1938528"/>
          </a:xfrm>
          <a:prstGeom prst="round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0" y="1920240"/>
            <a:ext cx="3584448" cy="1938528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2642"/>
                </a:solidFill>
              </a:rPr>
              <a:t>Team</a:t>
            </a:r>
          </a:p>
          <a:p>
            <a:pPr>
              <a:defRPr sz="1150">
                <a:solidFill>
                  <a:srgbClr val="222C34"/>
                </a:solidFill>
              </a:defRPr>
            </a:pPr>
            <a:r>
              <a:t>Rithvik Illandula</a:t>
            </a:r>
          </a:p>
          <a:p>
            <a:pPr>
              <a:defRPr sz="1150">
                <a:solidFill>
                  <a:srgbClr val="222C34"/>
                </a:solidFill>
              </a:defRPr>
            </a:pPr>
            <a:r>
              <a:t>Venkata Praneeth Cheturi</a:t>
            </a:r>
          </a:p>
          <a:p>
            <a:pPr>
              <a:defRPr sz="1150">
                <a:solidFill>
                  <a:srgbClr val="222C34"/>
                </a:solidFill>
              </a:defRPr>
            </a:pPr>
            <a:r>
              <a:t>Charitha Mamilla RaveendraReddy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4241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Thank You</a:t>
            </a:r>
          </a:p>
          <a:p>
            <a:pPr algn="ctr"/>
            <a:r>
              <a:rPr sz="1800">
                <a:solidFill>
                  <a:srgbClr val="E6EBF2"/>
                </a:solidFill>
              </a:rPr>
              <a:t>Questions and Discussion</a:t>
            </a:r>
          </a:p>
          <a:p>
            <a:pPr algn="ctr"/>
            <a:r>
              <a:rPr sz="1200">
                <a:solidFill>
                  <a:srgbClr val="C8D2DC"/>
                </a:solidFill>
              </a:rPr>
              <a:t>Team members should split the story: problem, data, models, results, and demo.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16636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6C455"/>
                </a:solidFill>
              </a:rPr>
              <a:t>Best model: DistilBERT on expanded dataset | 76.2% accuracy | Threshold 0.51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