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LIAR</c:v>
                </c:pt>
                <c:pt idx="1">
                  <c:v>FakeNewsNet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12765</c:v>
                </c:pt>
                <c:pt idx="1">
                  <c:v>21718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exp\_plus\_distilbert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76.2</c:v>
                </c:pt>
                <c:pt idx="1">
                  <c:v>66.91</c:v>
                </c:pt>
                <c:pt idx="2">
                  <c:v>49.77</c:v>
                </c:pt>
                <c:pt idx="3">
                  <c:v>57.08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Best transformer</c:v>
                </c:pt>
                <c:pt idx="1">
                  <c:v>Exp plus DistilBERT</c:v>
                </c:pt>
                <c:pt idx="2">
                  <c:v>Exp plus RoBERTa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64.6</c:v>
                </c:pt>
                <c:pt idx="1">
                  <c:v>76.2</c:v>
                </c:pt>
                <c:pt idx="2">
                  <c:v>74.0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4.xml"/><Relationship Id="rId6" Type="http://schemas.openxmlformats.org/officeDocument/2006/relationships/slide" Target="slide17.xml"/><Relationship Id="rId7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74320" y="0"/>
            <a:ext cx="5029200" cy="6858000"/>
          </a:xfrm>
          <a:prstGeom prst="roundRect">
            <a:avLst>
              <a:gd name="adj" fmla="val 8000"/>
            </a:avLst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502920"/>
            <a:ext cx="1920240" cy="1920240"/>
          </a:xfrm>
          <a:prstGeom prst="ellipse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828800"/>
            <a:ext cx="1051560" cy="1051560"/>
          </a:xfrm>
          <a:prstGeom prst="ellipse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5392" y="850392"/>
            <a:ext cx="4709160" cy="4828032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731520"/>
            <a:ext cx="4709160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642"/>
                </a:solidFill>
              </a:rPr>
              <a:t>Group Members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Rithvik Illandula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rithviki | rithviki@buffalo.edu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Venkata Praneeth Cheturi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vcheturi | vcheturi@buffalo.edu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Charitha Mamilla RaveendraReddy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cmamilla | cmamilla@buffalo.edu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Fake News Detection
Deep Learning Project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6EBF2"/>
                </a:solidFill>
              </a:rPr>
              <a:t>A complete end-to-end NLP system for classifying news as REAL or FAKE using LIAR and FakeNewsNet.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297680"/>
            <a:ext cx="2377440" cy="45720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Binary Text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F2642"/>
                </a:solidFill>
              </a:rPr>
              <a:t>Real datasets | DistilBERT best model | 76.2% test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Project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Click a card to jump to that part of the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642"/>
                </a:solidFill>
              </a:rPr>
              <a:t>Presentation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184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7315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Problem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Why fake news detection is hard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128016" cy="1234440"/>
          </a:xfrm>
          <a:prstGeom prst="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8183" y="16184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37033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Data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LIAR + FakeNewsNet + splits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554480"/>
            <a:ext cx="128016" cy="123444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9983" y="16184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>
            <a:hlinkClick action="ppaction://hlinksldjump" r:id="rId4"/>
          </p:cNvPr>
          <p:cNvSpPr/>
          <p:nvPr/>
        </p:nvSpPr>
        <p:spPr>
          <a:xfrm>
            <a:off x="66751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Models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RNN, LSTM, DistilBERT, RoBERTa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554480"/>
            <a:ext cx="128016" cy="1234440"/>
          </a:xfrm>
          <a:prstGeom prst="rect">
            <a:avLst/>
          </a:prstGeom>
          <a:solidFill>
            <a:srgbClr val="F6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34472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5"/>
          </p:cNvPr>
          <p:cNvSpPr/>
          <p:nvPr/>
        </p:nvSpPr>
        <p:spPr>
          <a:xfrm>
            <a:off x="731520" y="33832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Results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Metrics and confusion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128016" cy="1234440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58183" y="34472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3703320" y="33832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Demo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Streamlit app and usability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383280"/>
            <a:ext cx="128016" cy="1234440"/>
          </a:xfrm>
          <a:prstGeom prst="rect">
            <a:avLst/>
          </a:prstGeom>
          <a:solidFill>
            <a:srgbClr val="34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9983" y="3447288"/>
            <a:ext cx="2468880" cy="123444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6675120" y="33832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Q&amp;A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>Limitations and 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383280"/>
            <a:ext cx="128016" cy="1234440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325880"/>
            <a:ext cx="2331720" cy="384048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1234440"/>
            <a:ext cx="233172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2642"/>
                </a:solidFill>
              </a:rPr>
              <a:t>Presentation Goal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Clear narrative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Strong visuals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Honest limitations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Confident design choices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Why Fake News Detection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project is a text classification task, not full fact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Fake news is not always obviously false; it often uses believable language.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Short claims and full news articles have very different text patterns.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Realistic fake news requires learning linguistic cues, not just keyword matching.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model must handle noisy text, class imbalance, and domain 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What the model can do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Classify text as fake/real based on learned patterns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What it cannot do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Check facts against the web or external knowledge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Detect every misleading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Two real datasets were merged locally to build the final training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12,765 short political statements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Converted to binary labels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Good for concise claim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FakeNewsNet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21,718 full news articles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Binary fake/real labels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Better coverage of realistic article-style text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366760" y="3154680"/>
          <a:ext cx="29260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330184" y="1435608"/>
            <a:ext cx="3063240" cy="13716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371600"/>
            <a:ext cx="306324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2642"/>
                </a:solidFill>
              </a:rPr>
              <a:t>Data Mix</a:t>
            </a:r>
          </a:p>
          <a:p>
            <a:pPr>
              <a:defRPr sz="1100">
                <a:solidFill>
                  <a:srgbClr val="222C34"/>
                </a:solidFill>
              </a:defRPr>
            </a:pPr>
            <a:r>
              <a:t>The expanded dataset is dominated by FakeNewsNet, which helped the model learn realistic article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Label Mapping and Data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biggest gain came from using more real data, not from changing the model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Labels were standardized to 0 = REAL and 1 = FAKE.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Initial split used 13,170 rows with 80/10/10 train/val/test.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Expanded split used 34,483 rows with 27,586 train, 3,448 val, and 3,449 test.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expanded split gave a much better learning signal for the transformer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numbers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Original: 13.2k rows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Expanded: 34.5k rows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Growth: +161%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Best model trained on the expanded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Text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preprocessing kept the pipeline simple and consistent across all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Lowercase conversion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URL removal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HTML tag removal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Punctuation and special-character cleanup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Whitespace normalization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Missing value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Models We Explored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We compared simpler sequence models against transformer-based models to justify the final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Classic Neural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RNN baseline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LSTM baseline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Useful for sequence modeling and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Transformer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DistilBERT baseline and final model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RoBERTa variants for comparison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Best overall performance came from DistilBERT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workflow was repeated for each experiment so the comparisons remained fair.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Read raw LIAR and FakeNewsNet data.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Clean and merge the datasets.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Split into train/validation/test sets.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Tokenize text and train the model.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Tune the threshold on validation data.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Report test metrics and error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Design principle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Keep preprocessing and evaluation consistent so improvements are meaningful, not accidental.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5550408"/>
            <a:ext cx="1920240" cy="5029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Raw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28016" cy="502920"/>
          </a:xfrm>
          <a:prstGeom prst="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651760" y="5541264"/>
            <a:ext cx="256032" cy="384048"/>
          </a:xfrm>
          <a:prstGeom prst="chevron">
            <a:avLst/>
          </a:prstGeom>
          <a:solidFill>
            <a:srgbClr val="5A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26664" y="5550408"/>
            <a:ext cx="1920240" cy="5029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71800" y="54864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Clean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5486400"/>
            <a:ext cx="128016" cy="5029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4892040" y="5541264"/>
            <a:ext cx="256032" cy="384048"/>
          </a:xfrm>
          <a:prstGeom prst="chevron">
            <a:avLst/>
          </a:prstGeom>
          <a:solidFill>
            <a:srgbClr val="5A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66944" y="5550408"/>
            <a:ext cx="1920240" cy="5029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12080" y="54864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Tokenize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5486400"/>
            <a:ext cx="128016" cy="502920"/>
          </a:xfrm>
          <a:prstGeom prst="rect">
            <a:avLst/>
          </a:prstGeom>
          <a:solidFill>
            <a:srgbClr val="F6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7132320" y="5541264"/>
            <a:ext cx="256032" cy="384048"/>
          </a:xfrm>
          <a:prstGeom prst="chevron">
            <a:avLst/>
          </a:prstGeom>
          <a:solidFill>
            <a:srgbClr val="5A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07224" y="5550408"/>
            <a:ext cx="1920240" cy="5029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60" y="54864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Train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5486400"/>
            <a:ext cx="128016" cy="502920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9372600" y="5541264"/>
            <a:ext cx="256032" cy="384048"/>
          </a:xfrm>
          <a:prstGeom prst="chevron">
            <a:avLst/>
          </a:prstGeom>
          <a:solidFill>
            <a:srgbClr val="5A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5550408"/>
            <a:ext cx="1920240" cy="5029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54864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800" b="1">
                <a:solidFill>
                  <a:srgbClr val="0F2642"/>
                </a:solidFill>
              </a:rPr>
              <a:t>Evaluate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5A6873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5486400"/>
            <a:ext cx="128016" cy="502920"/>
          </a:xfrm>
          <a:prstGeom prst="rect">
            <a:avLst/>
          </a:prstGeom>
          <a:solidFill>
            <a:srgbClr val="34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Baseline Result: Where We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baseline established a working end-to-end system and exposed the data limitation.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Baseline DistilBERT on the original split achieved 64.6% accuracy.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That was good enough to prove the pipeline worked, but not good enough for the final target.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first bottleneck was data volume, not model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Baseline takeaway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pipeline was correct.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model was not yet strong enough.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We needed more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What We Changed After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project improved through data expansion and disciplined experimentation.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Expanded the dataset to 34,483 rows.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Stopped over-focusing on class weighting because it hurt accuracy.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Tuned the decision threshold instead of relying on the default 0.5 cut-off.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Compared DistilBERT, RoBERTa, and classic RNN/LSTM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Important lesson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Better data beat more complicated tricks.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Data Expansion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was the single most important improvement in the whole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Moved from 13k rows to 34.5k rows.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expanded set included much more FakeNewsNet coverage.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This improved generalization and reduced the baseline ceiling.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final accuracy gain was +11.6 percentage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Result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64.6% → 76.2%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Data growth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+161%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Final decision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Use the expanded dataset in the final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4" y="3767328"/>
            <a:ext cx="3108960" cy="141732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3703320"/>
            <a:ext cx="31089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642"/>
                </a:solidFill>
              </a:rPr>
              <a:t>Dataset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069080"/>
            <a:ext cx="2743200" cy="201168"/>
          </a:xfrm>
          <a:prstGeom prst="round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4069080"/>
            <a:ext cx="868680" cy="201168"/>
          </a:xfrm>
          <a:prstGeom prst="round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904488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2C34"/>
                </a:solidFill>
              </a:defRPr>
            </a:pPr>
            <a:r>
              <a:t>Original 13.2k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453128"/>
            <a:ext cx="2743200" cy="201168"/>
          </a:xfrm>
          <a:prstGeom prst="round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4453128"/>
            <a:ext cx="2148840" cy="201168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288536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2C34"/>
                </a:solidFill>
              </a:defRPr>
            </a:pPr>
            <a:r>
              <a:t>Expanded 34.5k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Best Model: DistilBERT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DistilBERT gave the best balance of speed, stability, and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Architecture: DistilBERT-base-uncased.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Training used 27,586 rows, batch size 16, max length 128.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Optimizer: AdamW with a low learning rate for stable fine-tuning.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Fast enough for CPU-based experiments and strong enough for the final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this model won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Smaller than RoBERTa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Better accuracy than the baseline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Practical for local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A tiny threshold adjustment produced a measurable benefit.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We searched validation thresholds from 0.2 to 0.8.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best threshold was 0.51, not the default 0.5.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This small change improved the final decision boundary and made the app more reliable.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this matters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model outputs probabilities, and the cutoff rule changes real-world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Final Test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Best model evaluated on 3,449 test examples with threshold 0.51.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097280"/>
          <a:ext cx="7772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23960" y="1325880"/>
            <a:ext cx="2606040" cy="4023360"/>
          </a:xfrm>
          <a:prstGeom prst="roundRect">
            <a:avLst/>
          </a:prstGeom>
          <a:solidFill>
            <a:srgbClr val="F5F8FC"/>
          </a:solidFill>
          <a:ln>
            <a:solidFill>
              <a:srgbClr val="D4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takeaways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Data expansion mattered more than architecture changes.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DistilBERT was the best tradeoff between size and accuracy.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Threshold tuning improved the final decision boundary.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The model learns pattern-based fake news cues, not fact checking.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960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642"/>
                </a:solidFill>
              </a:rPr>
              <a:t>Best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234440"/>
            <a:ext cx="2606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C34"/>
                </a:solidFill>
              </a:rPr>
              <a:t>Accuracy: 76.2%</a:t>
            </a:r>
          </a:p>
          <a:p>
            <a:r>
              <a:rPr sz="1300">
                <a:solidFill>
                  <a:srgbClr val="222C34"/>
                </a:solidFill>
              </a:rPr>
              <a:t>Precision: 66.91%</a:t>
            </a:r>
          </a:p>
          <a:p>
            <a:r>
              <a:rPr sz="1300">
                <a:solidFill>
                  <a:srgbClr val="222C34"/>
                </a:solidFill>
              </a:rPr>
              <a:t>Recall: 49.77%</a:t>
            </a:r>
          </a:p>
          <a:p>
            <a:r>
              <a:rPr sz="1300">
                <a:solidFill>
                  <a:srgbClr val="222C34"/>
                </a:solidFill>
              </a:rPr>
              <a:t>F1: 0.5708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The model is strong at recognizing real news, but it still misses about half of the fake examples.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Predicted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Predicted FAKE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53081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Actual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253081"/>
            <a:ext cx="2011680" cy="790041"/>
          </a:xfrm>
          <a:prstGeom prst="rect">
            <a:avLst/>
          </a:prstGeom>
          <a:solidFill>
            <a:srgbClr val="E6F5F2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2082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53081"/>
            <a:ext cx="2011680" cy="790041"/>
          </a:xfrm>
          <a:prstGeom prst="rect">
            <a:avLst/>
          </a:prstGeom>
          <a:solidFill>
            <a:srgbClr val="FFF3E5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3123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Actual FAKE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43123"/>
            <a:ext cx="2011680" cy="790041"/>
          </a:xfrm>
          <a:prstGeom prst="rect">
            <a:avLst/>
          </a:prstGeom>
          <a:solidFill>
            <a:srgbClr val="FFF3E5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551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043123"/>
            <a:ext cx="2011680" cy="790041"/>
          </a:xfrm>
          <a:prstGeom prst="rect">
            <a:avLst/>
          </a:prstGeom>
          <a:solidFill>
            <a:srgbClr val="EBF4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546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554480"/>
            <a:ext cx="4297680" cy="310896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22C34"/>
                </a:solidFill>
              </a:defRPr>
            </a:pPr>
            <a:r>
              <a:t>True negatives: 2,082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False positives: 270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False negatives: 551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True positives: 546</a:t>
            </a:r>
          </a:p>
          <a:p>
            <a:pPr>
              <a:defRPr sz="1300">
                <a:solidFill>
                  <a:srgbClr val="222C34"/>
                </a:solidFill>
              </a:defRPr>
            </a:pPr>
          </a:p>
          <a:p>
            <a:pPr>
              <a:defRPr sz="1200" b="1">
                <a:solidFill>
                  <a:srgbClr val="0F2642"/>
                </a:solidFill>
              </a:defRPr>
            </a:pPr>
            <a:r>
              <a:t>Interpretation: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Good at classifying REAL examples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Misses some subtle FAKE examples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Best used with threshold tuning and human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DistilBERT remained the best tradeoff between performance and complexity.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097280"/>
          <a:ext cx="7772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23960" y="1325880"/>
            <a:ext cx="2606040" cy="4023360"/>
          </a:xfrm>
          <a:prstGeom prst="roundRect">
            <a:avLst/>
          </a:prstGeom>
          <a:solidFill>
            <a:srgbClr val="F5F8FC"/>
          </a:solidFill>
          <a:ln>
            <a:solidFill>
              <a:srgbClr val="D4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takeaways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Data expansion mattered more than architecture changes.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DistilBERT was the best tradeoff between size and accuracy.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Threshold tuning improved the final decision boundary.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The model learns pattern-based fake news cues, not fact checking.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325880"/>
            <a:ext cx="26517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C34"/>
                </a:solidFill>
              </a:defRPr>
            </a:pPr>
            <a:r>
              <a:t>Baseline: 64.6%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Final: 76.2%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RoBERTa: 74.0%</a:t>
            </a:r>
          </a:p>
          <a:p>
            <a:pPr>
              <a:defRPr sz="1300">
                <a:solidFill>
                  <a:srgbClr val="222C34"/>
                </a:solidFill>
              </a:defRPr>
            </a:pPr>
          </a:p>
          <a:p>
            <a:pPr>
              <a:defRPr sz="1300" b="1">
                <a:solidFill>
                  <a:srgbClr val="0F2642"/>
                </a:solidFill>
              </a:defRPr>
            </a:pPr>
            <a:r>
              <a:t>Conclusion:</a:t>
            </a:r>
          </a:p>
          <a:p>
            <a:pPr>
              <a:defRPr sz="1300">
                <a:solidFill>
                  <a:srgbClr val="0F2642"/>
                </a:solidFill>
              </a:defRPr>
            </a:pPr>
            <a:r>
              <a:t>Data expansion beat architecture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demo turns the project from an offline experiment into a usable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A Streamlit app was built for interactive predictions.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Users can choose a checkpoint from a dropdown.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app displays FAKE / REAL plus confidence scores.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Thresholds are preconfigured for the selected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the demo matters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It proves the model is usable by non-technical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1481328"/>
            <a:ext cx="3291840" cy="361188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9184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642"/>
                </a:solidFill>
              </a:rPr>
              <a:t>App Preview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Dropdown checkpoint selector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Confidence display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FAKE / REAL output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Auto threshold per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Key Hiccups and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These issues helped shape the final design choices and the project narrative.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Class weighting reduced accuracy instead of improving it.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RoBERTa training was unstable on the CPU-only environment.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Some checkpoints needed tokenizer fallback settings.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Obvious nonsense inputs exposed the model’s domain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Design lesson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A good project report should explain unexpected failures, not hide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honest limitations make the final presentation stronger, not weaker.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Recall is only 49.77% on fake examples.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The model cannot verify facts externally.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Performance drops on out-of-domain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Next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Add fact-checking or retrieval-based verification.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Try an ensemble of models.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Use richer metadata such as source and author context.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920240" cy="27432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960120"/>
            <a:ext cx="1097280" cy="274320"/>
          </a:xfrm>
          <a:prstGeom prst="round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2560" y="731520"/>
            <a:ext cx="1828800" cy="274320"/>
          </a:xfrm>
          <a:prstGeom prst="roundRect">
            <a:avLst/>
          </a:prstGeom>
          <a:solidFill>
            <a:srgbClr val="F6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1097280"/>
            <a:ext cx="1097280" cy="27432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11312" y="2039112"/>
            <a:ext cx="3584448" cy="1938528"/>
          </a:xfrm>
          <a:prstGeom prst="round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584448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2642"/>
                </a:solidFill>
              </a:rPr>
              <a:t>Team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Rithvik Illandula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Venkata Praneeth Cheturi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Charitha Mamilla RaveendraReddy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1800">
                <a:solidFill>
                  <a:srgbClr val="E6EBF2"/>
                </a:solidFill>
              </a:rPr>
              <a:t>Questions and Discussion</a:t>
            </a:r>
          </a:p>
          <a:p>
            <a:pPr algn="ctr"/>
            <a:r>
              <a:rPr sz="1200">
                <a:solidFill>
                  <a:srgbClr val="C8D2DC"/>
                </a:solidFill>
              </a:rPr>
              <a:t>Team members should split the story: problem, data, models, results, and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6C455"/>
                </a:solidFill>
              </a:rPr>
              <a:t>Best model: DistilBERT on expanded dataset | 76.2% accuracy | Threshold 0.51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